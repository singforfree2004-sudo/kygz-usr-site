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4"/>
  </p:notesMasterIdLst>
  <p:sldIdLst>
    <p:sldId id="268" r:id="rId2"/>
    <p:sldId id="282" r:id="rId3"/>
  </p:sldIdLst>
  <p:sldSz cx="9144000" cy="5143500" type="screen16x9"/>
  <p:notesSz cx="6797675" cy="9926638"/>
  <p:embeddedFontLst>
    <p:embeddedFont>
      <p:font typeface="微軟正黑體" panose="020B0604030504040204" pitchFamily="34" charset="-120"/>
      <p:regular r:id="rId5"/>
      <p:bold r:id="rId6"/>
    </p:embeddedFont>
    <p:embeddedFont>
      <p:font typeface="微軟正黑體" panose="020B0604030504040204" pitchFamily="34" charset="-120"/>
      <p:regular r:id="rId5"/>
      <p:bold r:id="rId6"/>
    </p:embeddedFont>
    <p:embeddedFont>
      <p:font typeface="Open Sans" panose="020B0606030504020204" pitchFamily="3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8">
          <p15:clr>
            <a:srgbClr val="747775"/>
          </p15:clr>
        </p15:guide>
        <p15:guide id="2" pos="227">
          <p15:clr>
            <a:srgbClr val="747775"/>
          </p15:clr>
        </p15:guide>
        <p15:guide id="3" orient="horz" pos="1763">
          <p15:clr>
            <a:srgbClr val="747775"/>
          </p15:clr>
        </p15:guide>
        <p15:guide id="4" orient="horz" pos="2491">
          <p15:clr>
            <a:srgbClr val="747775"/>
          </p15:clr>
        </p15:guide>
        <p15:guide id="5" orient="horz" pos="6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0B2B35-9B0C-4396-B003-B2B467C0AAF9}">
  <a:tblStyle styleId="{D50B2B35-9B0C-4396-B003-B2B467C0AAF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C56E39B-6192-4AA5-BC41-43628D8CF2C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657"/>
  </p:normalViewPr>
  <p:slideViewPr>
    <p:cSldViewPr snapToGrid="0">
      <p:cViewPr varScale="1">
        <p:scale>
          <a:sx n="136" d="100"/>
          <a:sy n="136" d="100"/>
        </p:scale>
        <p:origin x="224" y="184"/>
      </p:cViewPr>
      <p:guideLst>
        <p:guide orient="horz" pos="2388"/>
        <p:guide pos="227"/>
        <p:guide orient="horz" pos="1763"/>
        <p:guide orient="horz" pos="2491"/>
        <p:guide orient="horz" pos="6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 1">
  <p:cSld name="BLANK_4_1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0" y="0"/>
            <a:ext cx="9144000" cy="4714500"/>
          </a:xfrm>
          <a:prstGeom prst="rect">
            <a:avLst/>
          </a:prstGeom>
          <a:solidFill>
            <a:srgbClr val="4CACBC"/>
          </a:solidFill>
          <a:ln w="9525" cap="flat" cmpd="sng">
            <a:solidFill>
              <a:srgbClr val="4CA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28650" y="1558495"/>
            <a:ext cx="7886700" cy="2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/>
          <p:nvPr/>
        </p:nvSpPr>
        <p:spPr>
          <a:xfrm>
            <a:off x="8866350" y="4853700"/>
            <a:ext cx="192600" cy="2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 1 1">
  <p:cSld name="BLANK_4_1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0" y="0"/>
            <a:ext cx="9144000" cy="4714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28650" y="1558495"/>
            <a:ext cx="7886700" cy="2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 u="none" strike="noStrike" cap="none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7"/>
          <p:cNvSpPr/>
          <p:nvPr/>
        </p:nvSpPr>
        <p:spPr>
          <a:xfrm>
            <a:off x="8866350" y="4853700"/>
            <a:ext cx="192600" cy="2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 2">
  <p:cSld name="自訂版面配置_2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28650" y="1558495"/>
            <a:ext cx="7886700" cy="2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i="0" u="none" strike="noStrike" cap="none">
                <a:solidFill>
                  <a:schemeClr val="dk1"/>
                </a:solidFill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507050" y="302075"/>
            <a:ext cx="77664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內文 1 1">
  <p:cSld name="TITLE_AND_BODY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-328150" y="270575"/>
            <a:ext cx="669000" cy="669000"/>
          </a:xfrm>
          <a:prstGeom prst="ellipse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507050" y="302075"/>
            <a:ext cx="77664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507050" y="1021375"/>
            <a:ext cx="8166900" cy="3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2pPr>
            <a:lvl3pPr marL="1371600" marR="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內文 1 1 3">
  <p:cSld name="TITLE_AND_BODY_1_1_3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/>
          <p:nvPr/>
        </p:nvSpPr>
        <p:spPr>
          <a:xfrm>
            <a:off x="-328150" y="270575"/>
            <a:ext cx="669000" cy="669000"/>
          </a:xfrm>
          <a:prstGeom prst="ellipse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507050" y="302075"/>
            <a:ext cx="77664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內文 1 1 2">
  <p:cSld name="TITLE_AND_BODY_1_1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/>
          <p:nvPr/>
        </p:nvSpPr>
        <p:spPr>
          <a:xfrm>
            <a:off x="-328150" y="270575"/>
            <a:ext cx="669000" cy="669000"/>
          </a:xfrm>
          <a:prstGeom prst="ellipse">
            <a:avLst/>
          </a:prstGeom>
          <a:solidFill>
            <a:srgbClr val="006B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507050" y="302075"/>
            <a:ext cx="77664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507050" y="1021375"/>
            <a:ext cx="8166900" cy="3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2pPr>
            <a:lvl3pPr marL="1371600" marR="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內文 1 1 2 1">
  <p:cSld name="TITLE_AND_BODY_1_1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/>
          <p:nvPr/>
        </p:nvSpPr>
        <p:spPr>
          <a:xfrm>
            <a:off x="-328150" y="270575"/>
            <a:ext cx="669000" cy="669000"/>
          </a:xfrm>
          <a:prstGeom prst="ellipse">
            <a:avLst/>
          </a:prstGeom>
          <a:solidFill>
            <a:srgbClr val="006B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507050" y="302075"/>
            <a:ext cx="77664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內文 1 1 1">
  <p:cSld name="TITLE_AND_BODY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title"/>
          </p:nvPr>
        </p:nvSpPr>
        <p:spPr>
          <a:xfrm>
            <a:off x="507050" y="302075"/>
            <a:ext cx="77664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1"/>
          </p:nvPr>
        </p:nvSpPr>
        <p:spPr>
          <a:xfrm>
            <a:off x="507050" y="1021375"/>
            <a:ext cx="8166900" cy="3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2pPr>
            <a:lvl3pPr marL="1371600" marR="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-328150" y="270575"/>
            <a:ext cx="669000" cy="669000"/>
          </a:xfrm>
          <a:prstGeom prst="ellipse">
            <a:avLst/>
          </a:prstGeom>
          <a:solidFill>
            <a:srgbClr val="4CAC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內文 1 1 1 3">
  <p:cSld name="TITLE_AND_BODY_1_1_1_3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507050" y="302075"/>
            <a:ext cx="77664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/>
          <p:nvPr/>
        </p:nvSpPr>
        <p:spPr>
          <a:xfrm>
            <a:off x="-328150" y="270575"/>
            <a:ext cx="669000" cy="669000"/>
          </a:xfrm>
          <a:prstGeom prst="ellipse">
            <a:avLst/>
          </a:prstGeom>
          <a:solidFill>
            <a:srgbClr val="4CAC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內文 1 1 1 2">
  <p:cSld name="TITLE_AND_BODY_1_1_1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title"/>
          </p:nvPr>
        </p:nvSpPr>
        <p:spPr>
          <a:xfrm>
            <a:off x="507050" y="302075"/>
            <a:ext cx="77664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body" idx="1"/>
          </p:nvPr>
        </p:nvSpPr>
        <p:spPr>
          <a:xfrm>
            <a:off x="507050" y="1021375"/>
            <a:ext cx="8166900" cy="3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2pPr>
            <a:lvl3pPr marL="1371600" marR="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6"/>
          <p:cNvSpPr/>
          <p:nvPr/>
        </p:nvSpPr>
        <p:spPr>
          <a:xfrm>
            <a:off x="-328150" y="270575"/>
            <a:ext cx="669000" cy="669000"/>
          </a:xfrm>
          <a:prstGeom prst="ellipse">
            <a:avLst/>
          </a:prstGeom>
          <a:solidFill>
            <a:srgbClr val="A0D9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內文 1 1 1 1">
  <p:cSld name="TITLE_AND_BODY_1_1_1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507050" y="302075"/>
            <a:ext cx="77664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/>
          <p:nvPr/>
        </p:nvSpPr>
        <p:spPr>
          <a:xfrm>
            <a:off x="-328150" y="270575"/>
            <a:ext cx="669000" cy="669000"/>
          </a:xfrm>
          <a:prstGeom prst="ellipse">
            <a:avLst/>
          </a:prstGeom>
          <a:solidFill>
            <a:srgbClr val="A0D9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 2 1" preserve="1" userDrawn="1">
  <p:cSld name="計畫亮點一覽表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/>
          <p:nvPr/>
        </p:nvSpPr>
        <p:spPr>
          <a:xfrm>
            <a:off x="0" y="0"/>
            <a:ext cx="9187800" cy="5143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C599A26-C928-44BE-8C4C-87442FB6B85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98820" y="244001"/>
            <a:ext cx="3031807" cy="2003900"/>
          </a:xfrm>
        </p:spPr>
        <p:txBody>
          <a:bodyPr/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zh-TW" altLang="en-US" dirty="0"/>
              <a:t>(代表性照片)</a:t>
            </a:r>
          </a:p>
        </p:txBody>
      </p:sp>
    </p:spTree>
    <p:extLst>
      <p:ext uri="{BB962C8B-B14F-4D97-AF65-F5344CB8AC3E}">
        <p14:creationId xmlns:p14="http://schemas.microsoft.com/office/powerpoint/2010/main" val="3886769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5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8859847" y="4826696"/>
            <a:ext cx="4776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zh-TW" sz="11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1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0" y="0"/>
            <a:ext cx="9144000" cy="68700"/>
          </a:xfrm>
          <a:prstGeom prst="rect">
            <a:avLst/>
          </a:prstGeom>
          <a:solidFill>
            <a:srgbClr val="006B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507050" y="302075"/>
            <a:ext cx="77664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None/>
              <a:defRPr sz="33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507050" y="1021375"/>
            <a:ext cx="8166900" cy="3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35397" y="169275"/>
            <a:ext cx="570353" cy="6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176300" y="4869600"/>
            <a:ext cx="6927000" cy="16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115年度教育部大學社會責任共同培力活動｜USR永續力轉型｜企業ESG對接亮點工作坊</a:t>
            </a:r>
            <a:endParaRPr sz="1000" b="0" i="0" u="none" strike="noStrike" cap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8" r:id="rId13"/>
    <p:sldLayoutId id="214748366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EC7E7919-0805-4857-BE83-203DC1488B48}"/>
              </a:ext>
            </a:extLst>
          </p:cNvPr>
          <p:cNvSpPr txBox="1"/>
          <p:nvPr/>
        </p:nvSpPr>
        <p:spPr>
          <a:xfrm>
            <a:off x="373380" y="281940"/>
            <a:ext cx="5181600" cy="3745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JhengHei"/>
              </a:rPr>
              <a:t>跨樂尬陣｜企業ESG合作亮點</a:t>
            </a:r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FE32E7E6-72F8-483A-B7F7-CEBCA80318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45480" y="205901"/>
            <a:ext cx="3181986" cy="1851499"/>
          </a:xfrm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66E9BEFA-BF10-4822-A101-FCA916768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675538"/>
              </p:ext>
            </p:extLst>
          </p:nvPr>
        </p:nvGraphicFramePr>
        <p:xfrm>
          <a:off x="373380" y="784861"/>
          <a:ext cx="5181600" cy="4283396"/>
        </p:xfrm>
        <a:graphic>
          <a:graphicData uri="http://schemas.openxmlformats.org/drawingml/2006/table">
            <a:tbl>
              <a:tblPr firstRow="1" bandRow="1">
                <a:tableStyleId>{D50B2B35-9B0C-4396-B003-B2B467C0AAF9}</a:tableStyleId>
              </a:tblPr>
              <a:tblGrid>
                <a:gridCol w="1099626">
                  <a:extLst>
                    <a:ext uri="{9D8B030D-6E8A-4147-A177-3AD203B41FA5}">
                      <a16:colId xmlns:a16="http://schemas.microsoft.com/office/drawing/2014/main" val="2174393684"/>
                    </a:ext>
                  </a:extLst>
                </a:gridCol>
                <a:gridCol w="4081974">
                  <a:extLst>
                    <a:ext uri="{9D8B030D-6E8A-4147-A177-3AD203B41FA5}">
                      <a16:colId xmlns:a16="http://schemas.microsoft.com/office/drawing/2014/main" val="4274942"/>
                    </a:ext>
                  </a:extLst>
                </a:gridCol>
              </a:tblGrid>
              <a:tr h="382031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實踐場域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23232"/>
                          </a:solidFill>
                          <a:latin typeface="Microsoft JhengHei"/>
                        </a:rPr>
                        <a:t>臺南市西港區：慶安宮、白埕物所、後營國小、地方社區、胡麻產業與節慶場域。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424135"/>
                  </a:ext>
                </a:extLst>
              </a:tr>
              <a:tr h="456356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關注議題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323232"/>
                          </a:solidFill>
                          <a:latin typeface="Microsoft JhengHei"/>
                        </a:rPr>
                        <a:t>以音樂、Podcast、教材、展演與數位內容推動地方文化保存、社會共融、青年培力與社區參與；協助企業將ESG投入轉化為可看見、可傳播、可揭露的社會影響力成果。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203213"/>
                  </a:ext>
                </a:extLst>
              </a:tr>
              <a:tr h="3375473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ESG</a:t>
                      </a:r>
                      <a:r>
                        <a:rPr lang="zh-TW" altLang="en-US" sz="1400" dirty="0"/>
                        <a:t>標籤</a:t>
                      </a:r>
                      <a:endParaRPr lang="en-US" altLang="zh-TW" sz="1400" dirty="0"/>
                    </a:p>
                    <a:p>
                      <a:r>
                        <a:rPr lang="en-US" altLang="zh-TW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至少1個、最多5個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zh-TW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82828"/>
                          </a:solidFill>
                          <a:latin typeface="Microsoft JhengHei"/>
                        </a:rPr>
                        <a:t>【建議勾選】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82828"/>
                          </a:solidFill>
                          <a:latin typeface="Microsoft JhengHei"/>
                        </a:rPr>
                        <a:t>- 社會價值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82828"/>
                          </a:solidFill>
                          <a:latin typeface="Microsoft JhengHei"/>
                        </a:rPr>
                        <a:t>- 青年發展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82828"/>
                          </a:solidFill>
                          <a:latin typeface="Microsoft JhengHei"/>
                        </a:rPr>
                        <a:t>- 文化保存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82828"/>
                          </a:solidFill>
                          <a:latin typeface="Microsoft JhengHei"/>
                        </a:rPr>
                        <a:t>- 社區發展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82828"/>
                          </a:solidFill>
                          <a:latin typeface="Microsoft JhengHei"/>
                        </a:rPr>
                        <a:t>- 跨域協作機制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sz="840" b="0">
                        <a:solidFill>
                          <a:srgbClr val="282828"/>
                        </a:solidFill>
                        <a:latin typeface="Microsoft JhengHei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82828"/>
                          </a:solidFill>
                          <a:latin typeface="Microsoft JhengHei"/>
                        </a:rPr>
                        <a:t>對應企業ESG痛點：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82828"/>
                          </a:solidFill>
                          <a:latin typeface="Microsoft JhengHei"/>
                        </a:rPr>
                        <a:t>- 地方永續常停留在一次性捐贈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82828"/>
                          </a:solidFill>
                          <a:latin typeface="Microsoft JhengHei"/>
                        </a:rPr>
                        <a:t>- 社會共融缺乏真實參與場域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82828"/>
                          </a:solidFill>
                          <a:latin typeface="Microsoft JhengHei"/>
                        </a:rPr>
                        <a:t>- ESG成果需要可說、可量化、可被報告引用的故事與證據</a:t>
                      </a:r>
                    </a:p>
                  </a:txBody>
                  <a:tcPr marL="50800" marR="50800" marT="38100" marB="25400"/>
                </a:tc>
                <a:extLst>
                  <a:ext uri="{0D108BD9-81ED-4DB2-BD59-A6C34878D82A}">
                    <a16:rowId xmlns:a16="http://schemas.microsoft.com/office/drawing/2014/main" val="1099112919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9094F747-5FA8-4C3A-8ED4-F5A165EE97A6}"/>
              </a:ext>
            </a:extLst>
          </p:cNvPr>
          <p:cNvSpPr txBox="1"/>
          <p:nvPr/>
        </p:nvSpPr>
        <p:spPr>
          <a:xfrm>
            <a:off x="1424940" y="297180"/>
            <a:ext cx="4130040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200" b="0">
                <a:solidFill>
                  <a:srgbClr val="505050"/>
                </a:solidFill>
                <a:latin typeface="Microsoft JhengHei"/>
              </a:rPr>
              <a:t>音樂 × 地方文化 × 社會共融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61B81D6F-EF30-4891-B9A8-6A3942EA9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082492"/>
              </p:ext>
            </p:extLst>
          </p:nvPr>
        </p:nvGraphicFramePr>
        <p:xfrm>
          <a:off x="5745480" y="2057400"/>
          <a:ext cx="3181986" cy="1297940"/>
        </p:xfrm>
        <a:graphic>
          <a:graphicData uri="http://schemas.openxmlformats.org/drawingml/2006/table">
            <a:tbl>
              <a:tblPr firstRow="1" bandRow="1">
                <a:tableStyleId>{D50B2B35-9B0C-4396-B003-B2B467C0AAF9}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463744091"/>
                    </a:ext>
                  </a:extLst>
                </a:gridCol>
                <a:gridCol w="2000886">
                  <a:extLst>
                    <a:ext uri="{9D8B030D-6E8A-4147-A177-3AD203B41FA5}">
                      <a16:colId xmlns:a16="http://schemas.microsoft.com/office/drawing/2014/main" val="11736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SDGs</a:t>
                      </a:r>
                      <a:r>
                        <a:rPr lang="zh-TW" altLang="en-US" sz="1400" dirty="0"/>
                        <a:t>標籤</a:t>
                      </a:r>
                      <a:endParaRPr lang="en-US" altLang="zh-TW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至少選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個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zh-TW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82828"/>
                          </a:solidFill>
                          <a:latin typeface="Microsoft JhengHei"/>
                        </a:rPr>
                        <a:t>【建議勾選】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82828"/>
                          </a:solidFill>
                          <a:latin typeface="Microsoft JhengHei"/>
                        </a:rPr>
                        <a:t>- 4 優質教育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82828"/>
                          </a:solidFill>
                          <a:latin typeface="Microsoft JhengHei"/>
                        </a:rPr>
                        <a:t>- 8 合宜工作與經濟成長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82828"/>
                          </a:solidFill>
                          <a:latin typeface="Microsoft JhengHei"/>
                        </a:rPr>
                        <a:t>- 10 減少不平等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82828"/>
                          </a:solidFill>
                          <a:latin typeface="Microsoft JhengHei"/>
                        </a:rPr>
                        <a:t>- 11 永續城市及社區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82828"/>
                          </a:solidFill>
                          <a:latin typeface="Microsoft JhengHei"/>
                        </a:rPr>
                        <a:t>- 17 全球夥伴關係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sz="900" b="0">
                        <a:solidFill>
                          <a:srgbClr val="282828"/>
                        </a:solidFill>
                        <a:latin typeface="Microsoft JhengHei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82828"/>
                          </a:solidFill>
                          <a:latin typeface="Microsoft JhengHei"/>
                        </a:rPr>
                        <a:t>核心對接：教育共創、地方文化、共融參與、在地產業與跨域夥伴。</a:t>
                      </a:r>
                    </a:p>
                  </a:txBody>
                  <a:tcPr marL="50800" marR="50800" marT="38100" marB="254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426694"/>
                  </a:ext>
                </a:extLst>
              </a:tr>
            </a:tbl>
          </a:graphicData>
        </a:graphic>
      </p:graphicFrame>
      <p:pic>
        <p:nvPicPr>
          <p:cNvPr id="17" name="Picture 16" descr="esg_photo1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480" y="281940"/>
            <a:ext cx="3181986" cy="185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81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66E9BEFA-BF10-4822-A101-FCA916768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613255"/>
              </p:ext>
            </p:extLst>
          </p:nvPr>
        </p:nvGraphicFramePr>
        <p:xfrm>
          <a:off x="225107" y="244000"/>
          <a:ext cx="5467033" cy="4640420"/>
        </p:xfrm>
        <a:graphic>
          <a:graphicData uri="http://schemas.openxmlformats.org/drawingml/2006/table">
            <a:tbl>
              <a:tblPr firstRow="1" bandRow="1">
                <a:tableStyleId>{D50B2B35-9B0C-4396-B003-B2B467C0AAF9}</a:tableStyleId>
              </a:tblPr>
              <a:tblGrid>
                <a:gridCol w="1486453">
                  <a:extLst>
                    <a:ext uri="{9D8B030D-6E8A-4147-A177-3AD203B41FA5}">
                      <a16:colId xmlns:a16="http://schemas.microsoft.com/office/drawing/2014/main" val="2174393684"/>
                    </a:ext>
                  </a:extLst>
                </a:gridCol>
                <a:gridCol w="3980580">
                  <a:extLst>
                    <a:ext uri="{9D8B030D-6E8A-4147-A177-3AD203B41FA5}">
                      <a16:colId xmlns:a16="http://schemas.microsoft.com/office/drawing/2014/main" val="4274942"/>
                    </a:ext>
                  </a:extLst>
                </a:gridCol>
              </a:tblGrid>
              <a:tr h="17253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/>
                        <a:t>行動方案和亮點績效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(200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字左右，盡量列點式陳述影響力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zh-TW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23232"/>
                          </a:solidFill>
                          <a:latin typeface="Microsoft JhengHei"/>
                        </a:rPr>
                        <a:t>• 以「音樂共融」作為地方文化保存與青年培力方法，帶領學生進入西港場域，與居民、學校、社區、地方夥伴共同採集故事、創作歌曲、製作Podcast與公開展演。</a:t>
                      </a:r>
                    </a:p>
                    <a:p>
                      <a:r>
                        <a:rPr sz="840" b="0">
                          <a:solidFill>
                            <a:srgbClr val="323232"/>
                          </a:solidFill>
                          <a:latin typeface="Microsoft JhengHei"/>
                        </a:rPr>
                        <a:t>• 已建立大學、地方、學生、居民與國際夥伴協作基礎，成果可延伸為教材、聲音內容、地方展演、數位導覽與企業ESG案例。</a:t>
                      </a:r>
                    </a:p>
                    <a:p>
                      <a:r>
                        <a:rPr sz="840" b="0">
                          <a:solidFill>
                            <a:srgbClr val="323232"/>
                          </a:solidFill>
                          <a:latin typeface="Microsoft JhengHei"/>
                        </a:rPr>
                        <a:t>• 具備SROI/成果資料整理能力，可協助企業將資源投入轉化為「可揭露、可傳播、可累積」的社會影響力成果。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770437"/>
                  </a:ext>
                </a:extLst>
              </a:tr>
              <a:tr h="14593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/>
                        <a:t>可合作項目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（列點式陳述，例如：產品、技術、專案…等）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23232"/>
                          </a:solidFill>
                          <a:latin typeface="Microsoft JhengHei"/>
                        </a:rPr>
                        <a:t>• 共融音樂創作與成果展演贊助</a:t>
                      </a:r>
                    </a:p>
                    <a:p>
                      <a:r>
                        <a:rPr sz="840" b="0">
                          <a:solidFill>
                            <a:srgbClr val="323232"/>
                          </a:solidFill>
                          <a:latin typeface="Microsoft JhengHei"/>
                        </a:rPr>
                        <a:t>• 地方文化故事採集、Podcast、短影音與數位導覽內容製作</a:t>
                      </a:r>
                    </a:p>
                    <a:p>
                      <a:r>
                        <a:rPr sz="840" b="0">
                          <a:solidFill>
                            <a:srgbClr val="323232"/>
                          </a:solidFill>
                          <a:latin typeface="Microsoft JhengHei"/>
                        </a:rPr>
                        <a:t>• 青年創作培育、獎助方案與企業命題工作坊</a:t>
                      </a:r>
                    </a:p>
                    <a:p>
                      <a:r>
                        <a:rPr sz="840" b="0">
                          <a:solidFill>
                            <a:srgbClr val="323232"/>
                          </a:solidFill>
                          <a:latin typeface="Microsoft JhengHei"/>
                        </a:rPr>
                        <a:t>• 企業員工共融體驗、地方走讀與志工參與</a:t>
                      </a:r>
                    </a:p>
                    <a:p>
                      <a:r>
                        <a:rPr sz="840" b="0">
                          <a:solidFill>
                            <a:srgbClr val="323232"/>
                          </a:solidFill>
                          <a:latin typeface="Microsoft JhengHei"/>
                        </a:rPr>
                        <a:t>• ESG品牌故事、社會影響力摘要與永續報告素材整理</a:t>
                      </a:r>
                    </a:p>
                    <a:p>
                      <a:r>
                        <a:rPr sz="840" b="0">
                          <a:solidFill>
                            <a:srgbClr val="323232"/>
                          </a:solidFill>
                          <a:latin typeface="Microsoft JhengHei"/>
                        </a:rPr>
                        <a:t>• 國際共創/數位影像合作之企業支持方案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55864"/>
                  </a:ext>
                </a:extLst>
              </a:tr>
              <a:tr h="1455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/>
                        <a:t>企業合作提案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(200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字左右簡述，若沒有請填</a:t>
                      </a:r>
                      <a:r>
                        <a:rPr lang="en-US" altLang="zh-TW" sz="12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”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無</a:t>
                      </a:r>
                      <a:r>
                        <a:rPr lang="en-US" altLang="zh-TW" sz="12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”)</a:t>
                      </a:r>
                      <a:endParaRPr lang="zh-TW" altLang="en-US" sz="1200" b="0" i="0" u="none" strike="noStrike" cap="none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23232"/>
                          </a:solidFill>
                          <a:latin typeface="Microsoft JhengHei"/>
                        </a:rPr>
                        <a:t>邀請企業成為「跨樂尬陣」共融文化夥伴，支持音樂創作、地方文化保存、青年培力與社會共融行動。企業可依自身ESG策略，選擇贊助作品製作、地方文化內容保存、員工共融體驗或社會影響力揭露等合作形式，使資源投入不只停留於捐助，而能轉化為具情感辨識度、可被傳播、亦可納入永續報告之具體社會成果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844258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EFD995D-7C9E-4E0B-A281-156E2DBBE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816952"/>
              </p:ext>
            </p:extLst>
          </p:nvPr>
        </p:nvGraphicFramePr>
        <p:xfrm>
          <a:off x="5852160" y="3276600"/>
          <a:ext cx="3181986" cy="1607820"/>
        </p:xfrm>
        <a:graphic>
          <a:graphicData uri="http://schemas.openxmlformats.org/drawingml/2006/table">
            <a:tbl>
              <a:tblPr firstRow="1" bandRow="1">
                <a:tableStyleId>{D50B2B35-9B0C-4396-B003-B2B467C0AAF9}</a:tableStyleId>
              </a:tblPr>
              <a:tblGrid>
                <a:gridCol w="2052097">
                  <a:extLst>
                    <a:ext uri="{9D8B030D-6E8A-4147-A177-3AD203B41FA5}">
                      <a16:colId xmlns:a16="http://schemas.microsoft.com/office/drawing/2014/main" val="2121000400"/>
                    </a:ext>
                  </a:extLst>
                </a:gridCol>
                <a:gridCol w="1129889">
                  <a:extLst>
                    <a:ext uri="{9D8B030D-6E8A-4147-A177-3AD203B41FA5}">
                      <a16:colId xmlns:a16="http://schemas.microsoft.com/office/drawing/2014/main" val="880802340"/>
                    </a:ext>
                  </a:extLst>
                </a:gridCol>
              </a:tblGrid>
              <a:tr h="1607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/>
                        <a:t>相關資料</a:t>
                      </a:r>
                      <a:endParaRPr lang="en-US" altLang="zh-TW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&lt;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&gt;</a:t>
                      </a:r>
                      <a:endParaRPr lang="en-US" altLang="zh-TW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可提供特色亮點、合作方案或其他有利於對接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ESG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合作的資料。</a:t>
                      </a:r>
                      <a:endParaRPr lang="en-US" altLang="zh-TW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請用附件方式繳交檔案，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若沒有請填</a:t>
                      </a:r>
                      <a:r>
                        <a:rPr lang="en-US" altLang="zh-TW" sz="12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”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無</a:t>
                      </a:r>
                      <a:r>
                        <a:rPr lang="en-US" altLang="zh-TW" sz="12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”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。</a:t>
                      </a:r>
                      <a:endParaRPr lang="zh-TW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23232"/>
                          </a:solidFill>
                          <a:latin typeface="Microsoft JhengHei"/>
                        </a:rPr>
                        <a:t>另附：</a:t>
                      </a:r>
                    </a:p>
                    <a:p>
                      <a:r>
                        <a:rPr sz="850" b="0">
                          <a:solidFill>
                            <a:srgbClr val="323232"/>
                          </a:solidFill>
                          <a:latin typeface="Microsoft JhengHei"/>
                        </a:rPr>
                        <a:t>《跨樂尬陣》企業ESG合作亮點摘要（1頁）</a:t>
                      </a:r>
                    </a:p>
                    <a:p>
                      <a:endParaRPr sz="850" b="0">
                        <a:solidFill>
                          <a:srgbClr val="323232"/>
                        </a:solidFill>
                        <a:latin typeface="Microsoft JhengHei"/>
                      </a:endParaRPr>
                    </a:p>
                    <a:p>
                      <a:r>
                        <a:rPr sz="850" b="0">
                          <a:solidFill>
                            <a:srgbClr val="323232"/>
                          </a:solidFill>
                          <a:latin typeface="Microsoft JhengHei"/>
                        </a:rPr>
                        <a:t>可加附件：代表照片、成果連結、SROI摘要、展演/Podcast/教材案例。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251990"/>
                  </a:ext>
                </a:extLst>
              </a:tr>
            </a:tbl>
          </a:graphicData>
        </a:graphic>
      </p:graphicFrame>
      <p:sp>
        <p:nvSpPr>
          <p:cNvPr id="10" name="圖片版面配置區 8">
            <a:extLst>
              <a:ext uri="{FF2B5EF4-FFF2-40B4-BE49-F238E27FC236}">
                <a16:creationId xmlns:a16="http://schemas.microsoft.com/office/drawing/2014/main" id="{A0EC0299-A878-48D9-AB16-5570470EC8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52160" y="244001"/>
            <a:ext cx="3181986" cy="1851499"/>
          </a:xfrm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BDCCA59-A2DD-46C8-81C0-5C78D1564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632153"/>
              </p:ext>
            </p:extLst>
          </p:nvPr>
        </p:nvGraphicFramePr>
        <p:xfrm>
          <a:off x="5852160" y="2204088"/>
          <a:ext cx="3181986" cy="904872"/>
        </p:xfrm>
        <a:graphic>
          <a:graphicData uri="http://schemas.openxmlformats.org/drawingml/2006/table">
            <a:tbl>
              <a:tblPr firstRow="1" bandRow="1">
                <a:tableStyleId>{D50B2B35-9B0C-4396-B003-B2B467C0AAF9}</a:tableStyleId>
              </a:tblPr>
              <a:tblGrid>
                <a:gridCol w="937261">
                  <a:extLst>
                    <a:ext uri="{9D8B030D-6E8A-4147-A177-3AD203B41FA5}">
                      <a16:colId xmlns:a16="http://schemas.microsoft.com/office/drawing/2014/main" val="236837974"/>
                    </a:ext>
                  </a:extLst>
                </a:gridCol>
                <a:gridCol w="2244725">
                  <a:extLst>
                    <a:ext uri="{9D8B030D-6E8A-4147-A177-3AD203B41FA5}">
                      <a16:colId xmlns:a16="http://schemas.microsoft.com/office/drawing/2014/main" val="1965330251"/>
                    </a:ext>
                  </a:extLst>
                </a:gridCol>
              </a:tblGrid>
              <a:tr h="9048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/>
                        <a:t>聯絡方式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23232"/>
                          </a:solidFill>
                          <a:latin typeface="Microsoft JhengHei"/>
                        </a:rPr>
                        <a:t>計畫主持人：徐志杰</a:t>
                      </a:r>
                    </a:p>
                    <a:p>
                      <a:r>
                        <a:rPr sz="900" b="0">
                          <a:solidFill>
                            <a:srgbClr val="323232"/>
                          </a:solidFill>
                          <a:latin typeface="Microsoft JhengHei"/>
                        </a:rPr>
                        <a:t>南臺科技大學 流行音樂產業系</a:t>
                      </a:r>
                    </a:p>
                    <a:p>
                      <a:r>
                        <a:rPr sz="900" b="0">
                          <a:solidFill>
                            <a:srgbClr val="323232"/>
                          </a:solidFill>
                          <a:latin typeface="Microsoft JhengHei"/>
                        </a:rPr>
                        <a:t>E-mail：CCHSU@stust.edu.tw</a:t>
                      </a:r>
                    </a:p>
                    <a:p>
                      <a:r>
                        <a:rPr sz="900" b="0">
                          <a:solidFill>
                            <a:srgbClr val="323232"/>
                          </a:solidFill>
                          <a:latin typeface="Microsoft JhengHei"/>
                        </a:rPr>
                        <a:t>Tel：0937-530573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090165"/>
                  </a:ext>
                </a:extLst>
              </a:tr>
            </a:tbl>
          </a:graphicData>
        </a:graphic>
      </p:graphicFrame>
      <p:pic>
        <p:nvPicPr>
          <p:cNvPr id="15" name="Picture 14" descr="esg_photo2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44001"/>
            <a:ext cx="3181986" cy="18514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6032" y="457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Microsoft JhengHei"/>
              </a:rPr>
              <a:t>企業ESG合作亮點：從資源挹注到可揭露的社會影響力</a:t>
            </a:r>
          </a:p>
        </p:txBody>
      </p:sp>
    </p:spTree>
    <p:extLst>
      <p:ext uri="{BB962C8B-B14F-4D97-AF65-F5344CB8AC3E}">
        <p14:creationId xmlns:p14="http://schemas.microsoft.com/office/powerpoint/2010/main" val="3833530992"/>
      </p:ext>
    </p:extLst>
  </p:cSld>
  <p:clrMapOvr>
    <a:masterClrMapping/>
  </p:clrMapOvr>
</p:sld>
</file>

<file path=ppt/theme/theme1.xml><?xml version="1.0" encoding="utf-8"?>
<a:theme xmlns:a="http://schemas.openxmlformats.org/drawingml/2006/main" name="凱基創生行動家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3030</TotalTime>
  <Words>375</Words>
  <Application>Microsoft Macintosh PowerPoint</Application>
  <PresentationFormat>如螢幕大小 (16:9)</PresentationFormat>
  <Paragraphs>59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Open Sans</vt:lpstr>
      <vt:lpstr>微軟正黑體</vt:lpstr>
      <vt:lpstr>微軟正黑體</vt:lpstr>
      <vt:lpstr>Arial</vt:lpstr>
      <vt:lpstr>凱基創生行動家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USR永續力轉型.  企業ESG對接亮點工作坊</dc:title>
  <dc:creator>USR</dc:creator>
  <cp:lastModifiedBy>a41949</cp:lastModifiedBy>
  <cp:revision>32</cp:revision>
  <cp:lastPrinted>2026-05-14T07:58:19Z</cp:lastPrinted>
  <dcterms:modified xsi:type="dcterms:W3CDTF">2026-05-15T10:17:32Z</dcterms:modified>
</cp:coreProperties>
</file>